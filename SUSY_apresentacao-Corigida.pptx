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20"/>
    <p:sldId id="270" r:id="rId21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315C"/>
              </a:solidFill>
              <a:effectLst/>
            </c:spPr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Fundo (0) — Modelo Padrão</c:v>
                </c:pt>
                <c:pt idx="1">
                  <c:v>Sinal SUSY (1)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2712173</c:v>
                </c:pt>
                <c:pt idx="1">
                  <c:v>2287827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Fundo (0)</c:v>
                </c:pt>
              </c:strCache>
            </c:strRef>
          </c:tx>
          <c:spPr>
            <a:solidFill>
              <a:srgbClr val="13315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lepton1_pT</c:v>
                  </c:pt>
                  <c:pt idx="1">
                    <c:v>missing_energy</c:v>
                  </c:pt>
                  <c:pt idx="2">
                    <c:v>MET_rel</c:v>
                  </c:pt>
                  <c:pt idx="3">
                    <c:v>M_R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0.7558</c:v>
                </c:pt>
                <c:pt idx="1">
                  <c:v>0.6482</c:v>
                </c:pt>
                <c:pt idx="2">
                  <c:v>0.7702</c:v>
                </c:pt>
                <c:pt idx="3">
                  <c:v>0.8464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Sinal (1)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lepton1_pT</c:v>
                  </c:pt>
                  <c:pt idx="1">
                    <c:v>missing_energy</c:v>
                  </c:pt>
                  <c:pt idx="2">
                    <c:v>MET_rel</c:v>
                  </c:pt>
                  <c:pt idx="3">
                    <c:v>M_R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1.2902</c:v>
                </c:pt>
                <c:pt idx="1">
                  <c:v>1.417</c:v>
                </c:pt>
                <c:pt idx="2">
                  <c:v>1.2755</c:v>
                </c:pt>
                <c:pt idx="3">
                  <c:v>1.1829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2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8 features low-level</c:v>
                </c:pt>
              </c:strCache>
            </c:strRef>
          </c:tx>
          <c:spPr>
            <a:solidFill>
              <a:srgbClr val="13315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Árvore de Decisão</c:v>
                  </c:pt>
                  <c:pt idx="1">
                    <c:v>Regressão Logística</c:v>
                  </c:pt>
                  <c:pt idx="2">
                    <c:v>Rede Neural MLP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0.4275</c:v>
                </c:pt>
                <c:pt idx="1">
                  <c:v>0.8321</c:v>
                </c:pt>
                <c:pt idx="2">
                  <c:v>0.8433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18 features (todas)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Árvore de Decisão</c:v>
                  </c:pt>
                  <c:pt idx="1">
                    <c:v>Regressão Logística</c:v>
                  </c:pt>
                  <c:pt idx="2">
                    <c:v>Rede Neural MLP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0.4626</c:v>
                </c:pt>
                <c:pt idx="1">
                  <c:v>0.8517</c:v>
                </c:pt>
                <c:pt idx="2">
                  <c:v>0.8476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A2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6DE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237744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3200400"/>
            <a:ext cx="1828800" cy="1828800"/>
          </a:xfrm>
          <a:prstGeom prst="ellipse">
            <a:avLst/>
          </a:prstGeom>
          <a:solidFill>
            <a:srgbClr val="13315C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0" y="182880"/>
            <a:ext cx="1645920" cy="1645920"/>
          </a:xfrm>
          <a:prstGeom prst="ellipse">
            <a:avLst/>
          </a:prstGeom>
          <a:solidFill>
            <a:srgbClr val="F4A261">
              <a:alpha val="25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0" y="3840480"/>
            <a:ext cx="1280160" cy="128016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36576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Data aplicado ao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SUSY Dataset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binária de eventos de física de partículas com Apache Spark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0" y="3611880"/>
            <a:ext cx="182880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6304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Miranda Viana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211877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5488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Oliveira Kuntz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222831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Big Data  •  Projeto Final (AC2)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0" cy="868680"/>
          </a:xfrm>
          <a:prstGeom prst="ellipse">
            <a:avLst/>
          </a:prstGeom>
          <a:solidFill>
            <a:srgbClr val="B8D4E3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0"/>
            <a:ext cx="502920" cy="502920"/>
          </a:xfrm>
          <a:prstGeom prst="ellipse">
            <a:avLst/>
          </a:prstGeom>
          <a:solidFill>
            <a:srgbClr val="D6E5EE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82880" y="640080"/>
            <a:ext cx="292608" cy="292608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32520" y="4846320"/>
            <a:ext cx="164592" cy="164592"/>
          </a:xfrm>
          <a:prstGeom prst="ellipse">
            <a:avLst/>
          </a:prstGeom>
          <a:solidFill>
            <a:srgbClr val="B8D4E3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42832" y="4983480"/>
            <a:ext cx="91440" cy="91440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Supersimetria (SUSY)?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Supersimetria (SUSY) é uma extensão teórica do Modelo Padrão da física de partículas.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propõe uma simetria entre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férmions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(partículas de matéria, spin semi-inteiro, como elétrons e quarks) e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bósons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(mediadores de força, spin inteiro, como fótons e glúons).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partícula conhecida existiria um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"superpar"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mesma carga elétrica e propriedades, mas com spin diferente.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49240" y="1051560"/>
            <a:ext cx="3657600" cy="32918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349240" y="1051560"/>
            <a:ext cx="73152" cy="32918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p/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34440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89320" y="1207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do paper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32120" y="169164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Baldi, Sadowski &amp; Whiteson (2014):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uma rede neural aprender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diretamente das medições brutas do detector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sem precisar das variáveis derivadas manualmente por físicos?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SIM, AUC = 0,876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0" cy="868680"/>
          </a:xfrm>
          <a:prstGeom prst="ellipse">
            <a:avLst/>
          </a:prstGeom>
          <a:solidFill>
            <a:srgbClr val="B8D4E3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0"/>
            <a:ext cx="502920" cy="502920"/>
          </a:xfrm>
          <a:prstGeom prst="ellipse">
            <a:avLst/>
          </a:prstGeom>
          <a:solidFill>
            <a:srgbClr val="D6E5EE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82880" y="640080"/>
            <a:ext cx="292608" cy="292608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32520" y="4846320"/>
            <a:ext cx="164592" cy="164592"/>
          </a:xfrm>
          <a:prstGeom prst="ellipse">
            <a:avLst/>
          </a:prstGeom>
          <a:solidFill>
            <a:srgbClr val="B8D4E3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42832" y="4983480"/>
            <a:ext cx="91440" cy="91440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utilizado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 — simulação Monte Carlo de colisões próton-próton a 8 TeV no LHC (MadGraph + PYTHIA + DELPHES)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1783080" cy="1234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2596896"/>
            <a:ext cx="17830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508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1,61 GB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1214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CSV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417320"/>
            <a:ext cx="1783080" cy="1234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606040" y="2596896"/>
            <a:ext cx="17830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606040" y="1508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5.000.000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21214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simulados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417320"/>
            <a:ext cx="1783080" cy="1234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754880" y="2596896"/>
            <a:ext cx="17830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54880" y="1508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21214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(1 label + 18)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1417320"/>
            <a:ext cx="1783080" cy="1234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903720" y="2596896"/>
            <a:ext cx="17830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03720" y="1508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54/46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03720" y="21214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/ sinal (%)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p/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108960"/>
            <a:ext cx="292608" cy="29260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05840" y="3081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 low-level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0080" y="3456432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Medições brutas do detector: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lepton1/2 pT, eta, phi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missing_energy_magnitude / phi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46320" y="2971800"/>
            <a:ext cx="3840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p/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108960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394960" y="3081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 high-level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5029200" y="3456432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Derivadas por físicos de partículas: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MET_rel, axial_MET, M_R, M_TR_2, 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MT2, S_R, M_Delta_R, dPhi_r_b, cos_θ_r1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0" cy="868680"/>
          </a:xfrm>
          <a:prstGeom prst="ellipse">
            <a:avLst/>
          </a:prstGeom>
          <a:solidFill>
            <a:srgbClr val="B8D4E3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0"/>
            <a:ext cx="502920" cy="502920"/>
          </a:xfrm>
          <a:prstGeom prst="ellipse">
            <a:avLst/>
          </a:prstGeom>
          <a:solidFill>
            <a:srgbClr val="D6E5EE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82880" y="640080"/>
            <a:ext cx="292608" cy="292608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32520" y="4846320"/>
            <a:ext cx="164592" cy="164592"/>
          </a:xfrm>
          <a:prstGeom prst="ellipse">
            <a:avLst/>
          </a:prstGeom>
          <a:solidFill>
            <a:srgbClr val="B8D4E3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42832" y="4983480"/>
            <a:ext cx="91440" cy="91440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do trabalho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entregáveis exigidos pelo plano da disciplina, em ordem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554480" y="143560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Big Data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18013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Apache Spark com Docker Compose, Jupyter integrado e mapeamento de portas reproduzível.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554480" y="24871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Pré-processamento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285292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das classes, estatísticas, balanceamento dinâmico, conversão para Parquet, Vector Assembler + StandardScaler.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3520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554480" y="35387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preditiva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39044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Decisão, Regressão Logística e Rede Neural MLP. Avaliação com Accuracy, F1 e AUC-ROC, comparada ao benchmark do paper.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0" cy="868680"/>
          </a:xfrm>
          <a:prstGeom prst="ellipse">
            <a:avLst/>
          </a:prstGeom>
          <a:solidFill>
            <a:srgbClr val="B8D4E3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0"/>
            <a:ext cx="502920" cy="502920"/>
          </a:xfrm>
          <a:prstGeom prst="ellipse">
            <a:avLst/>
          </a:prstGeom>
          <a:solidFill>
            <a:srgbClr val="D6E5EE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82880" y="640080"/>
            <a:ext cx="292608" cy="292608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32520" y="4846320"/>
            <a:ext cx="164592" cy="164592"/>
          </a:xfrm>
          <a:prstGeom prst="ellipse">
            <a:avLst/>
          </a:prstGeom>
          <a:solidFill>
            <a:srgbClr val="B8D4E3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42832" y="4983480"/>
            <a:ext cx="91440" cy="91440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Ambiente Big Data com Docker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606040" cy="24688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155448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468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 todo o ambiente em um único container reproduzível. Com docker compose up, o cluster sobe em um comando — sem instalar Spark, Java ou Python na máquina.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37560" y="1371600"/>
            <a:ext cx="2606040" cy="24688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55448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3.5.0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520440" y="2468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de processamento distribuído que lê o CSV de 1,61 GB em chunks paralelos. Usa o módulo Spark ML para os pipelines de pré-processamento e os três modelos da Parte 3.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17920" y="1371600"/>
            <a:ext cx="2606040" cy="24688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6217920" y="137160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5544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1792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00800" y="2468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interativa servida pela imagem jupyter/pyspark-notebook. Permite executar célula a célula com PySpark já configurado, integrando código, resultados e documentação.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solidFill>
            <a:srgbClr val="EEF3F8"/>
          </a:solidFill>
          <a:ln/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640080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mapeadas: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2103120" y="4023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8889</a:t>
            </a:r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Jupyter UI   •   </a:t>
            </a:r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4040</a:t>
            </a:r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Spark Web UI   •   </a:t>
            </a:r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7077</a:t>
            </a:r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Spark Master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0" cy="868680"/>
          </a:xfrm>
          <a:prstGeom prst="ellipse">
            <a:avLst/>
          </a:prstGeom>
          <a:solidFill>
            <a:srgbClr val="B8D4E3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0"/>
            <a:ext cx="502920" cy="502920"/>
          </a:xfrm>
          <a:prstGeom prst="ellipse">
            <a:avLst/>
          </a:prstGeom>
          <a:solidFill>
            <a:srgbClr val="D6E5EE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82880" y="640080"/>
            <a:ext cx="292608" cy="292608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32520" y="4846320"/>
            <a:ext cx="164592" cy="164592"/>
          </a:xfrm>
          <a:prstGeom prst="ellipse">
            <a:avLst/>
          </a:prstGeom>
          <a:solidFill>
            <a:srgbClr val="B8D4E3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42832" y="4983480"/>
            <a:ext cx="91440" cy="91440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Distribuição das classes</a:t>
            </a:r>
            <a:endParaRPr lang="en-US" sz="2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" y="137160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balanceamento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1810512"/>
            <a:ext cx="3931920" cy="329184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864608" y="18105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(label = 0)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0" y="18105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2.712.173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955280" y="1810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54,24%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0" y="2194560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864608" y="21945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SUSY (label = 1)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858000" y="21945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2.287.827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955280" y="219456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45,76%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0" y="2578608"/>
            <a:ext cx="3931920" cy="329184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64608" y="25786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0 / 1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858000" y="2578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1,1855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55280" y="25786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754880" y="3200400"/>
            <a:ext cx="3931920" cy="128016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4754880" y="3200400"/>
            <a:ext cx="73152" cy="12801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p/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337560"/>
            <a:ext cx="292608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285232" y="3310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Balanceamento aplicado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937760" y="3703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sampleBy do Spark com frações calculadas dinamicamente: classe minoritária preservada, classe majoritária reduzida proporcionalmente. </a:t>
            </a:r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~2,29 M / classe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0" cy="868680"/>
          </a:xfrm>
          <a:prstGeom prst="ellipse">
            <a:avLst/>
          </a:prstGeom>
          <a:solidFill>
            <a:srgbClr val="B8D4E3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0"/>
            <a:ext cx="502920" cy="502920"/>
          </a:xfrm>
          <a:prstGeom prst="ellipse">
            <a:avLst/>
          </a:prstGeom>
          <a:solidFill>
            <a:srgbClr val="D6E5EE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82880" y="640080"/>
            <a:ext cx="292608" cy="292608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32520" y="4846320"/>
            <a:ext cx="164592" cy="164592"/>
          </a:xfrm>
          <a:prstGeom prst="ellipse">
            <a:avLst/>
          </a:prstGeom>
          <a:solidFill>
            <a:srgbClr val="B8D4E3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42832" y="4983480"/>
            <a:ext cx="91440" cy="91440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Quais features mais separam sinal e fundo?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Médias por classe via Spark SQL — quanto maior a diferença, mais discriminativa é a feature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1600200"/>
          <a:ext cx="82296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062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40690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missing_energy_magnitude</a:t>
            </a:r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 feature mais discriminativa: eventos SUSY têm média </a:t>
            </a:r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2,2× maior</a:t>
            </a:r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os de fundo, refletindo as partículas SUSY que escapam do detector.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0" cy="868680"/>
          </a:xfrm>
          <a:prstGeom prst="ellipse">
            <a:avLst/>
          </a:prstGeom>
          <a:solidFill>
            <a:srgbClr val="B8D4E3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0"/>
            <a:ext cx="502920" cy="502920"/>
          </a:xfrm>
          <a:prstGeom prst="ellipse">
            <a:avLst/>
          </a:prstGeom>
          <a:solidFill>
            <a:srgbClr val="D6E5EE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82880" y="640080"/>
            <a:ext cx="292608" cy="292608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32520" y="4846320"/>
            <a:ext cx="164592" cy="164592"/>
          </a:xfrm>
          <a:prstGeom prst="ellipse">
            <a:avLst/>
          </a:prstGeom>
          <a:solidFill>
            <a:srgbClr val="B8D4E3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42832" y="4983480"/>
            <a:ext cx="91440" cy="91440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pré-processamento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08760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55648" y="1399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755648" y="166420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+ cast de label para int. 0 nulos detectados.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0100" y="1920240"/>
            <a:ext cx="0" cy="137160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4864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148840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755648" y="2039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Balanceamento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755648" y="230428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sampleBy com frações dinâmicas: 4.575.763 linhas balanceadas.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00100" y="2560320"/>
            <a:ext cx="0" cy="137160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78892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755648" y="2679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Parquet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755648" y="294436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colunar binário: leitura de 1,61 GB cai de minutos para 0,08s.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800100" y="3200400"/>
            <a:ext cx="0" cy="137160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  <p:txBody>
          <a:bodyPr/>
          <a:p/>
        </p:txBody>
      </p:sp>
      <p:sp>
        <p:nvSpPr>
          <p:cNvPr id="28" name="Shape 23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29" name="Text 24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429000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755648" y="3319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755648" y="358444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VectorAssembler + StandardScaler (média 0, desvio 1).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800100" y="3840480"/>
            <a:ext cx="0" cy="137160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  <p:txBody>
          <a:bodyPr/>
          <a:p/>
        </p:txBody>
      </p:sp>
      <p:sp>
        <p:nvSpPr>
          <p:cNvPr id="34" name="Shape 28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35" name="Text 29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069080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755648" y="3959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treino/teste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1755648" y="422452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 com seed=42 — 3.660.733 / 915.030.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0" cy="868680"/>
          </a:xfrm>
          <a:prstGeom prst="ellipse">
            <a:avLst/>
          </a:prstGeom>
          <a:solidFill>
            <a:srgbClr val="B8D4E3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0"/>
            <a:ext cx="502920" cy="502920"/>
          </a:xfrm>
          <a:prstGeom prst="ellipse">
            <a:avLst/>
          </a:prstGeom>
          <a:solidFill>
            <a:srgbClr val="D6E5EE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82880" y="640080"/>
            <a:ext cx="292608" cy="292608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32520" y="4846320"/>
            <a:ext cx="164592" cy="164592"/>
          </a:xfrm>
          <a:prstGeom prst="ellipse">
            <a:avLst/>
          </a:prstGeom>
          <a:solidFill>
            <a:srgbClr val="B8D4E3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42832" y="4983480"/>
            <a:ext cx="91440" cy="91440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três modelos avaliados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modelo treinado duas vezes — com 8 features low-level e com as 18 completas — replicando o experimento do paper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2606040" cy="29718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69164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187452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2423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Decisão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DecisionTreeClassifier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4360" y="3108960"/>
            <a:ext cx="2331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40080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maxDepth = 15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= 42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94360" y="38221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mais interpretável: regras se/então sobre os splits aprendidos.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337560" y="1691640"/>
            <a:ext cx="2606040" cy="29718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3337560" y="169164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87452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37560" y="2423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33756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LogisticRegression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474720" y="3108960"/>
            <a:ext cx="2331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3520440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maxIter = 10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regParam = 0,01 (L2)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3474720" y="38221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sensível à escala — beneficia-se do StandardScaler.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217920" y="1691640"/>
            <a:ext cx="2606040" cy="29718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6217920" y="169164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874520"/>
            <a:ext cx="457200" cy="4572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217920" y="2423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 (MLP)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21792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MultilayerPerceptron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6355080" y="3108960"/>
            <a:ext cx="2331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28"/>
          <p:cNvSpPr/>
          <p:nvPr/>
        </p:nvSpPr>
        <p:spPr>
          <a:xfrm>
            <a:off x="6400800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layers = [n, 100, 50, 2]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maxIter = 20  •  L-BFGS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6355080" y="38221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não-linearidades. Treinada em 0,5% (~18k) por restrição de memória; teste íntegro.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868680" cy="868680"/>
          </a:xfrm>
          <a:prstGeom prst="ellipse">
            <a:avLst/>
          </a:prstGeom>
          <a:solidFill>
            <a:srgbClr val="B8D4E3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0"/>
            <a:ext cx="502920" cy="502920"/>
          </a:xfrm>
          <a:prstGeom prst="ellipse">
            <a:avLst/>
          </a:prstGeom>
          <a:solidFill>
            <a:srgbClr val="D6E5EE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82880" y="640080"/>
            <a:ext cx="292608" cy="292608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32520" y="4846320"/>
            <a:ext cx="164592" cy="164592"/>
          </a:xfrm>
          <a:prstGeom prst="ellipse">
            <a:avLst/>
          </a:prstGeom>
          <a:solidFill>
            <a:srgbClr val="B8D4E3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42832" y="4983480"/>
            <a:ext cx="91440" cy="91440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2545"/>
                </a:solidFill>
                <a:latin typeface="Georgia"/>
              </a:rPr>
              <a:t>Seleção de hiperparâmetros: Árvore de Decisão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Sweep de maxDepth e minInstancesPerNode — 8 features low-level, dataset completo</a:t>
            </a:r>
          </a:p>
        </p:txBody>
      </p:sp>
      <p:pic>
        <p:nvPicPr>
          <p:cNvPr id="11" name="Picture 10" descr="dt_sweep_hiperparamet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56716"/>
            <a:ext cx="8412480" cy="2759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Big Data | SUSY Dataset | Erick Miranda &amp; Leonardo Kuntz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868680" cy="868680"/>
          </a:xfrm>
          <a:prstGeom prst="ellipse">
            <a:avLst/>
          </a:prstGeom>
          <a:solidFill>
            <a:srgbClr val="B8D4E3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0"/>
            <a:ext cx="502920" cy="502920"/>
          </a:xfrm>
          <a:prstGeom prst="ellipse">
            <a:avLst/>
          </a:prstGeom>
          <a:solidFill>
            <a:srgbClr val="D6E5EE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82880" y="640080"/>
            <a:ext cx="292608" cy="292608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32520" y="4846320"/>
            <a:ext cx="164592" cy="164592"/>
          </a:xfrm>
          <a:prstGeom prst="ellipse">
            <a:avLst/>
          </a:prstGeom>
          <a:solidFill>
            <a:srgbClr val="B8D4E3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42832" y="4983480"/>
            <a:ext cx="91440" cy="91440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2545"/>
                </a:solidFill>
                <a:latin typeface="Georgia"/>
              </a:rPr>
              <a:t>Seleção de hiperparâmetros: Regressão Logística e Rede Neural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LR: sweep de maxIter (escala log) — MLP: comparação de arquiteturas (amostra 0,5%)</a:t>
            </a:r>
          </a:p>
        </p:txBody>
      </p:sp>
      <p:pic>
        <p:nvPicPr>
          <p:cNvPr id="11" name="Picture 10" descr="lr_sweep_hiperparamet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43284"/>
            <a:ext cx="4023360" cy="1986215"/>
          </a:xfrm>
          <a:prstGeom prst="rect">
            <a:avLst/>
          </a:prstGeom>
        </p:spPr>
      </p:pic>
      <p:pic>
        <p:nvPicPr>
          <p:cNvPr id="12" name="Picture 11" descr="mlp_sweep_arquitetur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71478"/>
            <a:ext cx="4389120" cy="19298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Big Data | SUSY Dataset | Erick Miranda &amp; Leonardo Kuntz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0" cy="868680"/>
          </a:xfrm>
          <a:prstGeom prst="ellipse">
            <a:avLst/>
          </a:prstGeom>
          <a:solidFill>
            <a:srgbClr val="B8D4E3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0"/>
            <a:ext cx="502920" cy="502920"/>
          </a:xfrm>
          <a:prstGeom prst="ellipse">
            <a:avLst/>
          </a:prstGeom>
          <a:solidFill>
            <a:srgbClr val="D6E5EE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82880" y="640080"/>
            <a:ext cx="292608" cy="292608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32520" y="4846320"/>
            <a:ext cx="164592" cy="164592"/>
          </a:xfrm>
          <a:prstGeom prst="ellipse">
            <a:avLst/>
          </a:prstGeom>
          <a:solidFill>
            <a:srgbClr val="B8D4E3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42832" y="4983480"/>
            <a:ext cx="91440" cy="91440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medimos o desempenho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métricas complementares — cada uma responde a uma pergunta diferente sobre o modelo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00200"/>
            <a:ext cx="2606040" cy="26974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60020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55648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24128" y="1719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792" y="224028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008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(VP + VN) / Total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21792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todas as predições, quantas o modelo acertou?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1792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mais intuitiva, mas pode enganar em datasets desbalanceados — um modelo que sempre prevê a classe majoritária ainda teria alta acurácia.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337560" y="1600200"/>
            <a:ext cx="2606040" cy="26974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3337560" y="160020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755648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904488" y="1719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3502152" y="224028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352044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(Precisão × Recall) / (Precisão + Recall)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502152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Balanceia falsos positivos e falsos negativos?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502152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harmônica entre Precisão e Recall. Penaliza modelos que erram só pra um lado, oferecendo uma visão mais robusta que a Accuracy sozinha.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217920" y="1600200"/>
            <a:ext cx="2606040" cy="2697480"/>
          </a:xfrm>
          <a:prstGeom prst="rect">
            <a:avLst/>
          </a:prstGeom>
          <a:solidFill>
            <a:srgbClr val="EEF3F8"/>
          </a:solidFill>
          <a:ln/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6217920" y="1600200"/>
            <a:ext cx="260604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p/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755648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784848" y="1719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6382512" y="224028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640080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Área sob a curva ROC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6382512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separa bem as duas classes?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6382512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capacidade do modelo de ranquear eventos: dado um sinal e um fundo aleatórios, qual a probabilidade do sinal receber score maior? Vai de 0,5 (aleatório) a 1,0 (perfeito).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p/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489704"/>
            <a:ext cx="274320" cy="27432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60120" y="44348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priorizamos o AUC-ROC?</a:t>
            </a:r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 independente do limiar de decisão e do balanceamento de classes — exatamente a métrica usada pelo paper de referência (Baldi et al., 2014).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0" cy="868680"/>
          </a:xfrm>
          <a:prstGeom prst="ellipse">
            <a:avLst/>
          </a:prstGeom>
          <a:solidFill>
            <a:srgbClr val="B8D4E3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0"/>
            <a:ext cx="502920" cy="502920"/>
          </a:xfrm>
          <a:prstGeom prst="ellipse">
            <a:avLst/>
          </a:prstGeom>
          <a:solidFill>
            <a:srgbClr val="D6E5EE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82880" y="640080"/>
            <a:ext cx="292608" cy="292608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32520" y="4846320"/>
            <a:ext cx="164592" cy="164592"/>
          </a:xfrm>
          <a:prstGeom prst="ellipse">
            <a:avLst/>
          </a:prstGeom>
          <a:solidFill>
            <a:srgbClr val="B8D4E3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42832" y="4983480"/>
            <a:ext cx="91440" cy="91440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— 6 treinos, 3 métricas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no conjunto de teste completo (915 mil linhas) — verde destaca o melhor AUC por feature set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1463040"/>
                <a:gridCol w="137160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de Decisão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low-level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0,7758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0,7753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0,4275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de Decisão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todas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0,7841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0,7832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0,4626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Logística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low-level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0,7614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0,7597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0,8321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Logística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todas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0,7766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0,7751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Neural MLP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low-level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0,7682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0,7682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Neural MLP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todas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0,7766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0,7761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0,8476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EEF3F8"/>
          </a:solidFill>
          <a:ln/>
        </p:spPr>
        <p:txBody>
          <a:bodyPr/>
          <a:p/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33425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do paper (deep learning, dataset completo): </a:t>
            </a:r>
            <a:pPr indent="0" marL="0">
              <a:buNone/>
            </a:pPr>
            <a:r>
              <a:rPr lang="en-US" sz="10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0,876</a:t>
            </a:r>
            <a:pPr indent="0" marL="0">
              <a:buNone/>
            </a:pPr>
            <a:r>
              <a:rPr lang="en-US" sz="10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(8 features) e </a:t>
            </a:r>
            <a:pPr indent="0" marL="0">
              <a:buNone/>
            </a:pPr>
            <a:r>
              <a:rPr lang="en-US" sz="10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0,885</a:t>
            </a:r>
            <a:pPr indent="0" marL="0">
              <a:buNone/>
            </a:pPr>
            <a:r>
              <a:rPr lang="en-US" sz="10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(18 features)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0" cy="868680"/>
          </a:xfrm>
          <a:prstGeom prst="ellipse">
            <a:avLst/>
          </a:prstGeom>
          <a:solidFill>
            <a:srgbClr val="B8D4E3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0"/>
            <a:ext cx="502920" cy="502920"/>
          </a:xfrm>
          <a:prstGeom prst="ellipse">
            <a:avLst/>
          </a:prstGeom>
          <a:solidFill>
            <a:srgbClr val="D6E5EE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82880" y="640080"/>
            <a:ext cx="292608" cy="292608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32520" y="4846320"/>
            <a:ext cx="164592" cy="164592"/>
          </a:xfrm>
          <a:prstGeom prst="ellipse">
            <a:avLst/>
          </a:prstGeom>
          <a:solidFill>
            <a:srgbClr val="B8D4E3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42832" y="4983480"/>
            <a:ext cx="91440" cy="91440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AUC-ROC por modelo e conjunto de features</a:t>
            </a:r>
            <a:endParaRPr lang="en-US" sz="2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1325880"/>
          <a:ext cx="5943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583680" y="1325880"/>
            <a:ext cx="2194560" cy="9144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p/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4173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371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DESEMPENHO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693408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Logística (18)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= 0,8517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583680" y="2331720"/>
            <a:ext cx="2194560" cy="96012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4231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2377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693408" y="26700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com 8 features (0,8433) iguala LR com 18 (0,8517) — confirmando a tese de Baldi et al.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583680" y="3383280"/>
            <a:ext cx="2194560" cy="1234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34747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95160" y="3429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ÁRVORE DE DECISÃO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6693408" y="372160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0,67 com 8 features, mas apenas 0,57 com 18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adicionar mais atributos fragmenta as folhas e torna o ranqueamento menos estável.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2011680" cy="20116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772400" y="0"/>
            <a:ext cx="1828800" cy="1828800"/>
          </a:xfrm>
          <a:prstGeom prst="ellipse">
            <a:avLst/>
          </a:prstGeom>
          <a:solidFill>
            <a:srgbClr val="F4A261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Conclusões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91440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35204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070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 (18 features) liderou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0299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0,8517 — superou inclusive a MLP, mostrando que um modelo linear bem normalizado é competitivo nesse problema.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85800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com 8 features (AUC 0,8433) ≈ LR com 18 (0,8517)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29443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neural aprendeu sozinha o que físicos precisaram derivar manualmente — exatamente a tese de Baldi et al. (2014).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5800" y="3566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&lt; 0,5 da Árvore: alerta importante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38587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Accuracy de ~78%, a Árvore não ranqueia bem as classes — accuracy sozinha mascarou a fraqueza do modelo.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17720" y="1051560"/>
            <a:ext cx="4069080" cy="35204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0700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30952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84632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de memória no MLP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46320" y="20299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L-BFGS do PySpark é full-batch e estoura a RAM com 3,6 M linhas. Solução: amostragem de 0,5% (~18 k) no treino, mantendo o teste íntegro (915 k).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846320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dados na leitura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846320" y="29443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de 1,61 GB com inferSchema custava minutos por execução. Solução: conversão para Parquet — leitura caiu para 0,08 s.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846320" y="3566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 do ambiente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46320" y="38587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de versão de Spark/Python entre máquinas. Solução: tudo encapsulado em um único docker-compose.yml.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  •  Perguntas?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5720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Miranda Viana (211877) e Leonardo Oliveira Kuntz (222831)  •  Big Data – AC2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– SUSY Dataset</dc:title>
  <dc:subject>PptxGenJS Presentation</dc:subject>
  <dc:creator>Erick Miranda &amp; Leonardo Kuntz</dc:creator>
  <cp:lastModifiedBy>Erick Miranda &amp; Leonardo Kuntz</cp:lastModifiedBy>
  <cp:revision>1</cp:revision>
  <dcterms:created xsi:type="dcterms:W3CDTF">2026-05-09T22:15:30Z</dcterms:created>
  <dcterms:modified xsi:type="dcterms:W3CDTF">2026-05-09T22:15:30Z</dcterms:modified>
</cp:coreProperties>
</file>