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72" r:id="rId14"/>
    <p:sldId id="265" r:id="rId15"/>
    <p:sldId id="266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70-40D0-BAB6-332422613991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70-40D0-BAB6-3324226139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70-40D0-BAB6-3324226139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70-40D0-BAB6-3324226139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Fundo (0) — Modelo Padrão</c:v>
                </c:pt>
                <c:pt idx="1">
                  <c:v>Sinal SUSY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2712173</c:v>
                </c:pt>
                <c:pt idx="1">
                  <c:v>2287827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70-40D0-BAB6-332422613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Fundo (0)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lepton1_pT</c:v>
                </c:pt>
                <c:pt idx="1">
                  <c:v>missing_energy</c:v>
                </c:pt>
                <c:pt idx="2">
                  <c:v>MET_rel</c:v>
                </c:pt>
                <c:pt idx="3">
                  <c:v>M_R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0.75580000000000003</c:v>
                </c:pt>
                <c:pt idx="1">
                  <c:v>0.6482</c:v>
                </c:pt>
                <c:pt idx="2">
                  <c:v>0.7702</c:v>
                </c:pt>
                <c:pt idx="3">
                  <c:v>0.84640000000000004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3-4B00-902B-8332C647B3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Sinal (1)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lepton1_pT</c:v>
                </c:pt>
                <c:pt idx="1">
                  <c:v>missing_energy</c:v>
                </c:pt>
                <c:pt idx="2">
                  <c:v>MET_rel</c:v>
                </c:pt>
                <c:pt idx="3">
                  <c:v>M_R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1.2902</c:v>
                </c:pt>
                <c:pt idx="1">
                  <c:v>1.417</c:v>
                </c:pt>
                <c:pt idx="2">
                  <c:v>1.2755000000000001</c:v>
                </c:pt>
                <c:pt idx="3">
                  <c:v>1.1829000000000001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03-4B00-902B-8332C647B3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 features low-level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Árvore de Decisão</c:v>
                </c:pt>
                <c:pt idx="1">
                  <c:v>Regressão Logística</c:v>
                </c:pt>
                <c:pt idx="2">
                  <c:v>Rede Neural MLP</c:v>
                </c:pt>
                <c:pt idx="3">
                  <c:v>Rede Neural PyTorch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0.42749999999999999</c:v>
                </c:pt>
                <c:pt idx="1">
                  <c:v>0.83209999999999995</c:v>
                </c:pt>
                <c:pt idx="2">
                  <c:v>0.84330000000000005</c:v>
                </c:pt>
                <c:pt idx="3">
                  <c:v>0.87480000000000002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E-4876-91EF-765F68BB92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18 features (todas)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Árvore de Decisão</c:v>
                </c:pt>
                <c:pt idx="1">
                  <c:v>Regressão Logística</c:v>
                </c:pt>
                <c:pt idx="2">
                  <c:v>Rede Neural MLP</c:v>
                </c:pt>
                <c:pt idx="3">
                  <c:v>Rede Neural PyTorch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0.46260000000000001</c:v>
                </c:pt>
                <c:pt idx="1">
                  <c:v>0.85170000000000001</c:v>
                </c:pt>
                <c:pt idx="2">
                  <c:v>0.84760000000000002</c:v>
                </c:pt>
                <c:pt idx="3">
                  <c:v>0.87819999999999998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E-4876-91EF-765F68BB92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84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657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Data aplicado ao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SUSY Dataset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binária de eventos de física de partículas com Apache Spark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3611880"/>
            <a:ext cx="18288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46304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Miranda Viana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211877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Oliveira Kuntz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222831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Big Data  •  Projeto Final (AC2)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Supersimetria (SUSY)?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4572000" cy="194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Supersimetria (SUSY) é uma extensão teórica do Modelo Padrão da física de partículas.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propõe uma simetria entre </a:t>
            </a: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férmions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(partículas de matéria, spin semi-inteiro, como elétrons e quarks) e </a:t>
            </a: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bósons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(mediadores de força, spin inteiro, como fótons e glúons).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partícula conhecida existiria um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"superpar"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mesma carga elétrica e propriedades, mas com spin diferente.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1051560"/>
            <a:ext cx="3657600" cy="1832317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49240" y="1051560"/>
            <a:ext cx="73152" cy="1832317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3444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8932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paper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Baldi, Sadowski &amp; Whiteson (2014):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uma rede neural profunda aprender 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diretamente das medições brutas do detector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precisar das variáveis derivadas manualmente por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físicos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utilizado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por Baldi, Sadowski &amp; Whiteson (2014) e disponibilizado no UCI Machine Learning Repository. Simulação Monte Carlo de colisões próton-próton a 8 TeV no LHC (MadGraph + PYTHIA + DELPHES)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1,61 GB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60604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60604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simulados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(1 label + 18)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0372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0372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54/46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/ sinal (%)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low-level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345643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Medições brutas do detector: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lepton1/2 pT, eta, phi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missing_energy_magnitude / phi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297180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0896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9496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high-level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029200" y="3456432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Derivadas por físicos de partículas: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MET_rel, axial_MET, M_R, M_TR_2, 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MT2, S_R, M_Delta_R, dPhi_r_b, cos_θ_r1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8 features low-level: o que cada medida significa</a:t>
            </a:r>
            <a:endParaRPr lang="pt-BR" sz="2800" dirty="0"/>
          </a:p>
        </p:txBody>
      </p:sp>
      <p:sp>
        <p:nvSpPr>
          <p:cNvPr id="8" name="Subtitle"/>
          <p:cNvSpPr/>
          <p:nvPr/>
        </p:nvSpPr>
        <p:spPr>
          <a:xfrm>
            <a:off x="457200" y="981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detector mede cada quantidade física dos dois léptons e da energia faltante</a:t>
            </a:r>
            <a:endParaRPr lang="pt-BR" sz="1150" dirty="0"/>
          </a:p>
        </p:txBody>
      </p:sp>
      <p:sp>
        <p:nvSpPr>
          <p:cNvPr id="10" name="Card1Bg"/>
          <p:cNvSpPr/>
          <p:nvPr/>
        </p:nvSpPr>
        <p:spPr>
          <a:xfrm>
            <a:off x="457200" y="1371600"/>
            <a:ext cx="4014800" cy="1554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Card1AccentBar"/>
          <p:cNvSpPr/>
          <p:nvPr/>
        </p:nvSpPr>
        <p:spPr>
          <a:xfrm>
            <a:off x="457200" y="137160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Card1Header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pt-BR" sz="1500" b="1" baseline="-250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Momento transverso</a:t>
            </a:r>
            <a:endParaRPr lang="pt-BR" sz="1500" dirty="0"/>
          </a:p>
        </p:txBody>
      </p:sp>
      <p:sp>
        <p:nvSpPr>
          <p:cNvPr id="13" name="Card1Body"/>
          <p:cNvSpPr/>
          <p:nvPr/>
        </p:nvSpPr>
        <p:spPr>
          <a:xfrm>
            <a:off x="64008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do momento perpendicular ao feixe.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pela curvatura da trajetória no campo magnético do tracker.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pesadas tendem a apresentar p</a:t>
            </a:r>
            <a:r>
              <a:rPr lang="pt-BR" sz="1050" i="1" baseline="-25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alto.</a:t>
            </a:r>
            <a:endParaRPr lang="pt-BR" sz="1050" dirty="0"/>
          </a:p>
        </p:txBody>
      </p:sp>
      <p:sp>
        <p:nvSpPr>
          <p:cNvPr id="20" name="Card2Bg"/>
          <p:cNvSpPr/>
          <p:nvPr/>
        </p:nvSpPr>
        <p:spPr>
          <a:xfrm>
            <a:off x="4672000" y="1371600"/>
            <a:ext cx="4014800" cy="1554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Card2AccentBar"/>
          <p:cNvSpPr/>
          <p:nvPr/>
        </p:nvSpPr>
        <p:spPr>
          <a:xfrm>
            <a:off x="4672000" y="137160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Card2Header"/>
          <p:cNvSpPr/>
          <p:nvPr/>
        </p:nvSpPr>
        <p:spPr>
          <a:xfrm>
            <a:off x="48548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 ·  Pseudorapidez</a:t>
            </a:r>
            <a:endParaRPr lang="pt-BR" sz="1500" dirty="0"/>
          </a:p>
        </p:txBody>
      </p:sp>
      <p:sp>
        <p:nvSpPr>
          <p:cNvPr id="23" name="Card2Body"/>
          <p:cNvSpPr/>
          <p:nvPr/>
        </p:nvSpPr>
        <p:spPr>
          <a:xfrm>
            <a:off x="485488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da partícula em relação ao eixo do feixe.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onde no detector cilíndrico o lépton foi observado.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-ln(tan(θ/2)), com θ o ângulo polar.</a:t>
            </a:r>
            <a:endParaRPr lang="pt-BR" sz="1050" dirty="0"/>
          </a:p>
        </p:txBody>
      </p:sp>
      <p:sp>
        <p:nvSpPr>
          <p:cNvPr id="30" name="Card3Bg"/>
          <p:cNvSpPr/>
          <p:nvPr/>
        </p:nvSpPr>
        <p:spPr>
          <a:xfrm>
            <a:off x="457200" y="3071600"/>
            <a:ext cx="4014800" cy="1554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Card3AccentBar"/>
          <p:cNvSpPr/>
          <p:nvPr/>
        </p:nvSpPr>
        <p:spPr>
          <a:xfrm>
            <a:off x="457200" y="307160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Card3Header"/>
          <p:cNvSpPr/>
          <p:nvPr/>
        </p:nvSpPr>
        <p:spPr>
          <a:xfrm>
            <a:off x="640080" y="31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  ·  Ângulo azimutal</a:t>
            </a:r>
            <a:endParaRPr lang="pt-BR" sz="1500" dirty="0"/>
          </a:p>
        </p:txBody>
      </p:sp>
      <p:sp>
        <p:nvSpPr>
          <p:cNvPr id="33" name="Card3Body"/>
          <p:cNvSpPr/>
          <p:nvPr/>
        </p:nvSpPr>
        <p:spPr>
          <a:xfrm>
            <a:off x="640080" y="35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angular na seção transversal do detector.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a partícula em torno do eixo do feixe.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com η, dá a direção 3D completa da partícula.</a:t>
            </a:r>
            <a:endParaRPr lang="pt-BR" sz="1050" dirty="0"/>
          </a:p>
        </p:txBody>
      </p:sp>
      <p:sp>
        <p:nvSpPr>
          <p:cNvPr id="40" name="Card4Bg"/>
          <p:cNvSpPr/>
          <p:nvPr/>
        </p:nvSpPr>
        <p:spPr>
          <a:xfrm>
            <a:off x="4672000" y="3071600"/>
            <a:ext cx="4014800" cy="1554480"/>
          </a:xfrm>
          <a:prstGeom prst="rect">
            <a:avLst/>
          </a:prstGeom>
          <a:solidFill>
            <a:srgbClr val="FBD9A8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Card4AccentBar"/>
          <p:cNvSpPr/>
          <p:nvPr/>
        </p:nvSpPr>
        <p:spPr>
          <a:xfrm>
            <a:off x="4672000" y="3071600"/>
            <a:ext cx="91440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Card4Header"/>
          <p:cNvSpPr/>
          <p:nvPr/>
        </p:nvSpPr>
        <p:spPr>
          <a:xfrm>
            <a:off x="4854880" y="31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faltante  ·  magnitude e φ</a:t>
            </a:r>
            <a:endParaRPr lang="pt-BR" sz="1500" dirty="0"/>
          </a:p>
        </p:txBody>
      </p:sp>
      <p:sp>
        <p:nvSpPr>
          <p:cNvPr id="43" name="Card4Body"/>
          <p:cNvSpPr/>
          <p:nvPr/>
        </p:nvSpPr>
        <p:spPr>
          <a:xfrm>
            <a:off x="4854880" y="35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que escapa sem interagir com o detector.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Inferida pela quebra de conservação de momento transverso.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neutrinos ou candidatos a neutralino SUSY.</a:t>
            </a:r>
            <a:endParaRPr lang="pt-BR" sz="1050" dirty="0"/>
          </a:p>
        </p:txBody>
      </p:sp>
      <p:sp>
        <p:nvSpPr>
          <p:cNvPr id="50" name="BottomNote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léptons × (p</a:t>
            </a:r>
            <a:r>
              <a:rPr lang="pt-BR" sz="1000" i="1" baseline="-25000" dirty="0">
                <a:solidFill>
                  <a:srgbClr val="4A5568"/>
                </a:solidFill>
                <a:latin typeface="Calibri" pitchFamily="34" charset="0"/>
              </a:rPr>
              <a:t>T</a:t>
            </a:r>
            <a:r>
              <a:rPr lang="pt-BR" sz="1000" i="1" dirty="0">
                <a:solidFill>
                  <a:srgbClr val="4A5568"/>
                </a:solidFill>
                <a:latin typeface="Calibri" pitchFamily="34" charset="0"/>
              </a:rPr>
              <a:t>, η, φ) + magnitude e φ da energia faltante = 8 features. Definição conforme Baldi et al. (2014).</a:t>
            </a:r>
            <a:endParaRPr lang="pt-BR" sz="1000" dirty="0"/>
          </a:p>
        </p:txBody>
      </p:sp>
      <p:sp>
        <p:nvSpPr>
          <p:cNvPr id="60" name="FooterLeft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pt-BR" sz="900" dirty="0"/>
          </a:p>
        </p:txBody>
      </p:sp>
      <p:sp>
        <p:nvSpPr>
          <p:cNvPr id="61" name="FooterRight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pt-B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do trabalho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entregáveis exigidos pelo plano da disciplina, em ordem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1435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Big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18013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Apache Spark com Docker Compose, Jupyter integrado e mapeamento de portas reproduzível.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2487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Pré-processamento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2852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das classes, estatísticas, balanceamento dinâmico, conversão para Parquet, Vector Assembler + StandardScaler.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538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preditiva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904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modelos: Árvore de Decisão, Regressão Logística e Rede Neural MLP no Spark, mais uma Rede Neural em PyTorch sobre o dataset completo. Avaliação com Accuracy, F1 e AUC-ROC, comparada ao benchmark do paper.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 Big Data com Docker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554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todo o ambiente em um único container reproduzível. Com docker compose up, o cluster sobe em um comando, sem instalar Spark, Java ou Python na máquina.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3756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5544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3.5.0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2044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 processamento distribuído que lê o CSV de 1,61 GB em chunks paralelos. Usa o módulo Spark ML para os pipelines de pré-processamento e os três modelos da Parte 3.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554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0080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interativa servida pela imagem jupyter/pyspark-notebook. Permite executar célula a célula com PySpark já configurado, integrando código, resultados e documentação.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64008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mapeadas: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10312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8889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Jupyter UI   •   </a:t>
            </a: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4040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Spark Web UI   •   </a:t>
            </a: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7077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Spark Master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Distribuição das classes</a:t>
            </a:r>
            <a:endParaRPr lang="en-US" sz="2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65760" y="137160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balanceamento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810512"/>
            <a:ext cx="3931920" cy="32918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864608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(label = 0)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2.712.173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55280" y="1810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54,24%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194560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864608" y="2194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SUSY (label = 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0" y="2194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2.287.827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55280" y="21945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45,76%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2578608"/>
            <a:ext cx="3931920" cy="32918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864608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0 / 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58000" y="2578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1,1855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55280" y="25786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4880" y="3200400"/>
            <a:ext cx="3931920" cy="12801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4754880" y="320040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85232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aplicado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sampleBy do Spark com frações calculadas dinamicamente: classe minoritária preservada, classe majoritária reduzida proporcionalmente. </a:t>
            </a: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~2,29 M / classe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features mais separam sinal e fundo?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por classe via Spark SQL: quanto maior a diferença, mais discriminativa é a feature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600200"/>
          <a:ext cx="8229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06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4069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missing_energy_magnitude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feature mais discriminativa: eventos SUSY têm média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2,2× maior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os de fundo, refletindo as partículas SUSY que escapam do detector.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pré-processamento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0876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55648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55648" y="166420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+ cast de label para int. 0 nulos detectados.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0100" y="192024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14884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55648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755648" y="230428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sampleBy com frações dinâmicas: 4.575.763 linhas balanceadas.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0100" y="256032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78892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55648" y="2679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Parquet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755648" y="294436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colunar binário: leitura de 1,61 GB cai de minutos para 0,08s.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00100" y="320040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4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42900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55648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755648" y="358444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+ StandardScaler (média 0, desvio 1).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0100" y="384048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9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06908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755648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treino/teste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755648" y="422452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com seed=42: 3.660.733 / 915.030.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modelos avaliados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treinado duas vezes (com 8 features low-level e com as 18 completas), replicando o experimento do 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8745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DecisionTreeClassifier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008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maxDepth = 15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42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436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mais interpretável: regras se/então sobre os splits aprendidos.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3756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333756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8745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3756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3375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7472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352044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maxIter = 10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regParam = 0,01 (L2)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47472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sensível à escala, beneficia-se do StandardScaler.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621792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874520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1792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(MLP)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2179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MultilayerPerceptron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35508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8"/>
          <p:cNvSpPr/>
          <p:nvPr/>
        </p:nvSpPr>
        <p:spPr>
          <a:xfrm>
            <a:off x="640080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= [n, 100, 50, 2]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maxIter = 20  •  L-BFGS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35508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não-linearidades. Treinada em 0,5% (~18k) por restrição de memória; teste íntegro.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Georgia"/>
              </a:rPr>
              <a:t>Seleção de hiperparâmetros: Árvore de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Sweep de maxDepth e minInstancesPerNode: 8 features low-level, dataset completo</a:t>
            </a:r>
          </a:p>
        </p:txBody>
      </p:sp>
      <p:pic>
        <p:nvPicPr>
          <p:cNvPr id="11" name="Picture 10" descr="dt_sweep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6716"/>
            <a:ext cx="8412480" cy="2759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Big Data | SUSY Dataset | Erick Miranda &amp; Leonardo Kuntz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Georgia"/>
              </a:rPr>
              <a:t>Seleção de hiperparâmetros: Regressão Logística e Rede Neural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4065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A5568"/>
                </a:solidFill>
                <a:latin typeface="Calibri"/>
              </a:rPr>
              <a:t>LR: sweep de </a:t>
            </a:r>
            <a:r>
              <a:rPr sz="1300" b="0" dirty="0" err="1">
                <a:solidFill>
                  <a:srgbClr val="4A5568"/>
                </a:solidFill>
                <a:latin typeface="Calibri"/>
              </a:rPr>
              <a:t>maxIter</a:t>
            </a:r>
            <a:r>
              <a:rPr sz="1300" b="0" dirty="0">
                <a:solidFill>
                  <a:srgbClr val="4A5568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4A5568"/>
                </a:solidFill>
                <a:latin typeface="Calibri"/>
              </a:rPr>
              <a:t>escala</a:t>
            </a:r>
            <a:r>
              <a:rPr sz="1300" b="0" dirty="0">
                <a:solidFill>
                  <a:srgbClr val="4A5568"/>
                </a:solidFill>
                <a:latin typeface="Calibri"/>
              </a:rPr>
              <a:t> log); MLP: </a:t>
            </a:r>
            <a:r>
              <a:rPr sz="1300" b="0" dirty="0" err="1">
                <a:solidFill>
                  <a:srgbClr val="4A5568"/>
                </a:solidFill>
                <a:latin typeface="Calibri"/>
              </a:rPr>
              <a:t>comparação</a:t>
            </a:r>
            <a:r>
              <a:rPr sz="1300" b="0" dirty="0">
                <a:solidFill>
                  <a:srgbClr val="4A5568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4A5568"/>
                </a:solidFill>
                <a:latin typeface="Calibri"/>
              </a:rPr>
              <a:t>arquiteturas</a:t>
            </a:r>
            <a:r>
              <a:rPr sz="1300" b="0" dirty="0">
                <a:solidFill>
                  <a:srgbClr val="4A5568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4A5568"/>
                </a:solidFill>
                <a:latin typeface="Calibri"/>
              </a:rPr>
              <a:t>amostra</a:t>
            </a:r>
            <a:r>
              <a:rPr sz="1300" b="0" dirty="0">
                <a:solidFill>
                  <a:srgbClr val="4A5568"/>
                </a:solidFill>
                <a:latin typeface="Calibri"/>
              </a:rPr>
              <a:t> 0,5%)</a:t>
            </a:r>
          </a:p>
        </p:txBody>
      </p:sp>
      <p:pic>
        <p:nvPicPr>
          <p:cNvPr id="11" name="Picture 10" descr="lr_sweep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3284"/>
            <a:ext cx="4023360" cy="1986215"/>
          </a:xfrm>
          <a:prstGeom prst="rect">
            <a:avLst/>
          </a:prstGeom>
        </p:spPr>
      </p:pic>
      <p:pic>
        <p:nvPicPr>
          <p:cNvPr id="12" name="Picture 11" descr="mlp_sweep_arquitetu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71478"/>
            <a:ext cx="4389120" cy="19298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Big Data | SUSY Dataset | Erick Miranda &amp; Leonardo Kuntz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teBadgeBg"/>
          <p:cNvSpPr/>
          <p:nvPr/>
        </p:nvSpPr>
        <p:spPr>
          <a:xfrm>
            <a:off x="457200" y="182880"/>
            <a:ext cx="82296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spc="200" dirty="0">
                <a:solidFill>
                  <a:srgbClr val="FFFFFF"/>
                </a:solidFill>
                <a:latin typeface="Calibri" pitchFamily="34" charset="0"/>
              </a:rPr>
              <a:t>PARTE 3</a:t>
            </a:r>
            <a:endParaRPr lang="pt-BR" sz="1100" dirty="0"/>
          </a:p>
        </p:txBody>
      </p:sp>
      <p:sp>
        <p:nvSpPr>
          <p:cNvPr id="7" name="Title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Quarto modelo: PyTorch sobre o dataset completo</a:t>
            </a:r>
            <a:endParaRPr lang="pt-BR" sz="2800" dirty="0"/>
          </a:p>
        </p:txBody>
      </p:sp>
      <p:sp>
        <p:nvSpPr>
          <p:cNvPr id="8" name="Subtitle"/>
          <p:cNvSpPr/>
          <p:nvPr/>
        </p:nvSpPr>
        <p:spPr>
          <a:xfrm>
            <a:off x="457200" y="118872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dirty="0">
                <a:solidFill>
                  <a:srgbClr val="4A5568"/>
                </a:solidFill>
                <a:latin typeface="Calibri" pitchFamily="34" charset="0"/>
              </a:rPr>
              <a:t>A limitação do Spark MLPC e como o Adam mini-batch nos aproximou do benchmark do paper</a:t>
            </a:r>
            <a:endParaRPr lang="pt-BR" sz="1150" dirty="0"/>
          </a:p>
        </p:txBody>
      </p:sp>
      <p:sp>
        <p:nvSpPr>
          <p:cNvPr id="10" name="Card1Bg"/>
          <p:cNvSpPr/>
          <p:nvPr/>
        </p:nvSpPr>
        <p:spPr>
          <a:xfrm>
            <a:off x="457200" y="155448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Card1AccentBar"/>
          <p:cNvSpPr/>
          <p:nvPr/>
        </p:nvSpPr>
        <p:spPr>
          <a:xfrm>
            <a:off x="457200" y="1554480"/>
            <a:ext cx="2606040" cy="91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Card1Header"/>
          <p:cNvSpPr/>
          <p:nvPr/>
        </p:nvSpPr>
        <p:spPr>
          <a:xfrm>
            <a:off x="64008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spc="100" dirty="0">
                <a:solidFill>
                  <a:srgbClr val="DC2626"/>
                </a:solidFill>
                <a:latin typeface="Calibri" pitchFamily="34" charset="0"/>
              </a:rPr>
              <a:t>PROBLEMA</a:t>
            </a:r>
            <a:endParaRPr lang="pt-BR" sz="1100" dirty="0"/>
          </a:p>
        </p:txBody>
      </p:sp>
      <p:sp>
        <p:nvSpPr>
          <p:cNvPr id="13" name="Card1Subtitle"/>
          <p:cNvSpPr/>
          <p:nvPr/>
        </p:nvSpPr>
        <p:spPr>
          <a:xfrm>
            <a:off x="6400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0B2545"/>
                </a:solidFill>
                <a:latin typeface="Georgia" pitchFamily="34" charset="0"/>
              </a:rPr>
              <a:t>Spark MLPC usa L-BFGS</a:t>
            </a:r>
            <a:endParaRPr lang="pt-BR" sz="1400" dirty="0"/>
          </a:p>
        </p:txBody>
      </p:sp>
      <p:sp>
        <p:nvSpPr>
          <p:cNvPr id="14" name="Card1Body"/>
          <p:cNvSpPr/>
          <p:nvPr/>
        </p:nvSpPr>
        <p:spPr>
          <a:xfrm>
            <a:off x="640080" y="2468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O otimizador é full-batch: cada iteração precisa do gradiente sobre o conjunto inteiro de treino.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Custo por iteração O(N): impraticável com 3,66 M de linhas em 4 GB de RAM no driver.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DC2626"/>
                </a:solidFill>
                <a:latin typeface="Calibri" pitchFamily="34" charset="0"/>
              </a:rPr>
              <a:t>Por isso a Seção 3.6 treinou em apenas 0,5 % dos dados (~18 k linhas).</a:t>
            </a:r>
            <a:endParaRPr lang="pt-BR" sz="1000" dirty="0"/>
          </a:p>
        </p:txBody>
      </p:sp>
      <p:sp>
        <p:nvSpPr>
          <p:cNvPr id="20" name="Card2Bg"/>
          <p:cNvSpPr/>
          <p:nvPr/>
        </p:nvSpPr>
        <p:spPr>
          <a:xfrm>
            <a:off x="3268980" y="155448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Card2AccentBar"/>
          <p:cNvSpPr/>
          <p:nvPr/>
        </p:nvSpPr>
        <p:spPr>
          <a:xfrm>
            <a:off x="3268980" y="1554480"/>
            <a:ext cx="26060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Card2Header"/>
          <p:cNvSpPr/>
          <p:nvPr/>
        </p:nvSpPr>
        <p:spPr>
          <a:xfrm>
            <a:off x="345186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spc="100" dirty="0">
                <a:solidFill>
                  <a:srgbClr val="1C7293"/>
                </a:solidFill>
                <a:latin typeface="Calibri" pitchFamily="34" charset="0"/>
              </a:rPr>
              <a:t>SOLUÇÃO</a:t>
            </a:r>
            <a:endParaRPr lang="pt-BR" sz="1100" dirty="0"/>
          </a:p>
        </p:txBody>
      </p:sp>
      <p:sp>
        <p:nvSpPr>
          <p:cNvPr id="23" name="Card2Subtitle"/>
          <p:cNvSpPr/>
          <p:nvPr/>
        </p:nvSpPr>
        <p:spPr>
          <a:xfrm>
            <a:off x="345186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0B2545"/>
                </a:solidFill>
                <a:latin typeface="Georgia" pitchFamily="34" charset="0"/>
              </a:rPr>
              <a:t>PyTorch + Adam mini-batch</a:t>
            </a:r>
            <a:endParaRPr lang="pt-BR" sz="1400" dirty="0"/>
          </a:p>
        </p:txBody>
      </p:sp>
      <p:sp>
        <p:nvSpPr>
          <p:cNvPr id="24" name="Card2Body"/>
          <p:cNvSpPr/>
          <p:nvPr/>
        </p:nvSpPr>
        <p:spPr>
          <a:xfrm>
            <a:off x="3451860" y="2468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Convertemos os DataFrames Spark para numpy via toPandas() e replicamos o StandardScaler.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Adam processa um lote de 2.048 amostras por vez, sem materializar o gradiente completo.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1C7293"/>
                </a:solidFill>
                <a:latin typeface="Calibri" pitchFamily="34" charset="0"/>
              </a:rPr>
              <a:t>Treino sobre os 100 % dos dados (3,66 M linhas) em ~7 min/feature set.</a:t>
            </a:r>
            <a:endParaRPr lang="pt-BR" sz="1000" dirty="0"/>
          </a:p>
        </p:txBody>
      </p:sp>
      <p:sp>
        <p:nvSpPr>
          <p:cNvPr id="30" name="Card3Bg"/>
          <p:cNvSpPr/>
          <p:nvPr/>
        </p:nvSpPr>
        <p:spPr>
          <a:xfrm>
            <a:off x="6080760" y="1554480"/>
            <a:ext cx="2606040" cy="269748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Card3AccentBar"/>
          <p:cNvSpPr/>
          <p:nvPr/>
        </p:nvSpPr>
        <p:spPr>
          <a:xfrm>
            <a:off x="6080760" y="1554480"/>
            <a:ext cx="2606040" cy="9144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Card3Header"/>
          <p:cNvSpPr/>
          <p:nvPr/>
        </p:nvSpPr>
        <p:spPr>
          <a:xfrm>
            <a:off x="626364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spc="100" dirty="0">
                <a:solidFill>
                  <a:srgbClr val="166534"/>
                </a:solidFill>
                <a:latin typeface="Calibri" pitchFamily="34" charset="0"/>
              </a:rPr>
              <a:t>RESULTADO</a:t>
            </a:r>
            <a:endParaRPr lang="pt-BR" sz="1100" dirty="0"/>
          </a:p>
        </p:txBody>
      </p:sp>
      <p:sp>
        <p:nvSpPr>
          <p:cNvPr id="33" name="Card3Subtitle"/>
          <p:cNvSpPr/>
          <p:nvPr/>
        </p:nvSpPr>
        <p:spPr>
          <a:xfrm>
            <a:off x="626364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dirty="0">
                <a:solidFill>
                  <a:srgbClr val="0B2545"/>
                </a:solidFill>
                <a:latin typeface="Georgia" pitchFamily="34" charset="0"/>
              </a:rPr>
              <a:t>Comparado ao </a:t>
            </a:r>
            <a:r>
              <a:rPr lang="pt-BR" sz="1400" b="1" dirty="0" err="1">
                <a:solidFill>
                  <a:srgbClr val="0B2545"/>
                </a:solidFill>
                <a:latin typeface="Georgia" pitchFamily="34" charset="0"/>
              </a:rPr>
              <a:t>paper</a:t>
            </a:r>
            <a:endParaRPr lang="pt-BR" sz="1400" dirty="0"/>
          </a:p>
        </p:txBody>
      </p:sp>
      <p:sp>
        <p:nvSpPr>
          <p:cNvPr id="34" name="Card3Body"/>
          <p:cNvSpPr/>
          <p:nvPr/>
        </p:nvSpPr>
        <p:spPr>
          <a:xfrm>
            <a:off x="6263640" y="2468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AUC com 8 features: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166534"/>
                </a:solidFill>
                <a:latin typeface="Calibri" pitchFamily="34" charset="0"/>
              </a:rPr>
              <a:t>0,8748</a:t>
            </a: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  vs  0,876 (paper)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AUC com 18 features: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166534"/>
                </a:solidFill>
                <a:latin typeface="Calibri" pitchFamily="34" charset="0"/>
              </a:rPr>
              <a:t>0,8782</a:t>
            </a:r>
            <a:r>
              <a:rPr lang="pt-BR" sz="1000" dirty="0">
                <a:solidFill>
                  <a:srgbClr val="4A5568"/>
                </a:solidFill>
                <a:latin typeface="Calibri" pitchFamily="34" charset="0"/>
              </a:rPr>
              <a:t>  vs  0,885 (paper)</a:t>
            </a:r>
            <a:endParaRPr lang="pt-BR" sz="1000" dirty="0"/>
          </a:p>
        </p:txBody>
      </p:sp>
      <p:sp>
        <p:nvSpPr>
          <p:cNvPr id="50" name="BottomNote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FBD9A8">
              <a:alpha val="35000"/>
            </a:srgbClr>
          </a:solidFill>
          <a:ln/>
        </p:spPr>
        <p:txBody>
          <a:bodyPr wrap="square" lIns="91440" tIns="36576" rIns="91440" bIns="36576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92400E"/>
                </a:solidFill>
                <a:latin typeface="Calibri" pitchFamily="34" charset="0"/>
              </a:rPr>
              <a:t>Mesma arquitetura, otimizador diferente: </a:t>
            </a:r>
            <a:r>
              <a:rPr lang="pt-BR" sz="1000" i="1" dirty="0">
                <a:solidFill>
                  <a:srgbClr val="4A5568"/>
                </a:solidFill>
                <a:latin typeface="Calibri" pitchFamily="34" charset="0"/>
              </a:rPr>
              <a:t>[n, 100, 50, 2] em ambos, 20 épocas. Diferenças do MLP do Spark: ReLU em vez de Sigmoid, Adam em vez de L-BFGS, e o dataset inteiro em vez de 0,5 %.</a:t>
            </a:r>
            <a:endParaRPr lang="pt-BR" sz="1000" dirty="0"/>
          </a:p>
        </p:txBody>
      </p:sp>
      <p:sp>
        <p:nvSpPr>
          <p:cNvPr id="60" name="FooterLeft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94A3B8"/>
                </a:solidFill>
                <a:latin typeface="Calibri" pitchFamily="34" charset="0"/>
              </a:rPr>
              <a:t>Big Data | SUSY Dataset | Erick Miranda &amp; Leonardo Kuntz</a:t>
            </a:r>
            <a:endParaRPr lang="pt-BR" sz="900" dirty="0"/>
          </a:p>
        </p:txBody>
      </p:sp>
      <p:sp>
        <p:nvSpPr>
          <p:cNvPr id="61" name="FooterRight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94A3B8"/>
                </a:solidFill>
                <a:latin typeface="Calibri" pitchFamily="34" charset="0"/>
              </a:rPr>
              <a:t>13 / 17</a:t>
            </a:r>
            <a:endParaRPr lang="pt-B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medimos o desempenho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métricas complementares: cada uma responde a uma pergunta diferente sobre o modelo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55648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412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(VP + VN) / Total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todas as predições, quantas o modelo acertou?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179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mais intuitiva, mas pode enganar em datasets desbalanceados: um modelo que sempre prevê a classe majoritária ainda teria alta acurácia.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37560" y="160020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3337560" y="16002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75564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0448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50215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352044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(Precisão × Recall) / (Precisão + Recall)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50215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Balanceia falsos positivos e falsos negativos?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50215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harmônica entre Precisão e Recall. Penaliza modelos que erram só pra um lado, oferecendo uma visão mais robusta que a Accuracy sozinha.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600200"/>
            <a:ext cx="2606040" cy="269748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55648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8484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38251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7"/>
          <p:cNvSpPr/>
          <p:nvPr/>
        </p:nvSpPr>
        <p:spPr>
          <a:xfrm>
            <a:off x="640080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 sob a curva ROC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38251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separa bem as duas classes?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38251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capacidade do modelo de ranquear eventos: dado um sinal e um fundo aleatórios, qual a probabilidade do sinal receber score maior? Vai de 0,5 (aleatório) a 1,0 (perfeito).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489704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0120" y="4434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priorizamos o AUC-ROC?</a:t>
            </a: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independente do limiar de decisão e do balanceamento de classes: exatamente a métrica usada pelo paper de referência (Baldi et al., 2014).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Resultados: 8 treinos, 3 métricas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no conjunto de teste completo (915 mil linhas). Verde destaca o melhor AUC por feature set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013978"/>
              </p:ext>
            </p:extLst>
          </p:nvPr>
        </p:nvGraphicFramePr>
        <p:xfrm>
          <a:off x="457200" y="1691640"/>
          <a:ext cx="822960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0,4275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0,7614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0,8321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0,7766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0,7766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0,8476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0,7967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0,7877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0,7993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0,8782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3425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Baldi et al. (2014), rede neural profunda treinada em 5 M de eventos: </a:t>
            </a: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0,876</a:t>
            </a: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 features) e </a:t>
            </a: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0,885</a:t>
            </a: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(18 features)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 por modelo e conjunto de features</a:t>
            </a:r>
            <a:endParaRPr lang="en-US" sz="2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32588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583680" y="1325880"/>
            <a:ext cx="2194560" cy="9144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DESEMPENHO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693408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N. PyTorch (18)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0,8782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83680" y="2331720"/>
            <a:ext cx="2194560" cy="9601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40205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693408" y="26700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com Adam mini-batch sobre 100% dos dados chegou a 0,001 do benchmark do paper (0,876). O gargalo do Spark MLPC era o L-BFGS.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583680" y="3383280"/>
            <a:ext cx="219456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344658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ÁRVORE DE DECISÃO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693408" y="3721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0,67 com 8 features, mas apenas 0,57 com 18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adicionar mais atributos fragmenta as folhas e torna o ranqueamento menos estável.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9144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com PyTorch (18 features) liderou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0,8782, a apenas 0,001 do benchmark do paper de Baldi et al. (0,885 com 18 features). Adam mini-batch sobre o dataset completo destrava o desempenho do modelo.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arquitetura, otimizador diferente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Spark MLPC (L-BFGS, amostra de 0,5%) atingiu AUC 0,8433. A mesma arquitetura em PyTorch com Adam mini-batch sobre 100% dos dados subiu para 0,8748: o gargalo era o otimizador, não a rede.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0,5 da Árvore: alerta importante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Accuracy de ~78%, a Árvore não ranqueia bem as classes; accuracy sozinha mascarou a fraqueza do modelo.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051560"/>
            <a:ext cx="406908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3095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4632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memória no MLP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L-BFGS do PySpark é full-batch e estoura a RAM com 3,6 M linhas. Solução em duas etapas: amostragem de 0,5% (~18 k) no Spark MLPC e replicação em PyTorch + Adam mini-batch sobre os 100% dos dados.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4632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dados na leitura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de 1,61 GB com inferSchema custava minutos por execução. Solução: conversão para Parquet, leitura caiu para 0,08 s.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4632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do ambiente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46320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versão de Spark/Python entre máquinas. Solução: tudo encapsulado em um único docker-compose.yml.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•  Perguntas?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Miranda Viana (211877) e Leonardo Oliveira Kuntz (222831)  •  Big Data – AC2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2148</Words>
  <Application>Microsoft Office PowerPoint</Application>
  <PresentationFormat>Apresentação na tela (16:9)</PresentationFormat>
  <Paragraphs>293</Paragraphs>
  <Slides>17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– SUSY Dataset</dc:title>
  <dc:subject>PptxGenJS Presentation</dc:subject>
  <dc:creator>Erick Miranda &amp; Leonardo Kuntz</dc:creator>
  <cp:lastModifiedBy>LEONARDO KUNTZ OLIVEIRA</cp:lastModifiedBy>
  <cp:revision>7</cp:revision>
  <dcterms:created xsi:type="dcterms:W3CDTF">2026-05-09T22:15:30Z</dcterms:created>
  <dcterms:modified xsi:type="dcterms:W3CDTF">2026-05-10T22:20:49Z</dcterms:modified>
</cp:coreProperties>
</file>